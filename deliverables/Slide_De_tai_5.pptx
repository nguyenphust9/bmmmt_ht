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Slide 1 — Đề tài 5: Xác minh &amp; Phê duyệt Thanh toán Nội bộ</a:t>
            </a:r>
          </a:p>
          <a:p>
            <a:pPr>
              <a:defRPr sz="1300">
                <a:solidFill>
                  <a:srgbClr val="93C5FD"/>
                </a:solidFill>
              </a:defRPr>
            </a:pPr>
            <a:r>
              <a:t>Chống giả mạo danh tính (Deepfake / Display-name Spoofing) &amp; Chiếm quyền tài khoản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Học phần: Bảo mật mạng máy tính và hệ thống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Bài toán thực tế: Kẻ tấn công giả danh Giám đốc qua tin nhắn/giọng nói hoặc đánh cắp mật khẩu/phiên đăng nhập để ra lệnh chuyển tiền khẩn cấp.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Mục tiêu đồ án: Thiết kế và triển khai hệ thống xác minh &amp; phê duyệt đa tầng trên PostgreSQL 17, đảm bảo 1 tài khoản bị chiếm hoặc nội dung bị sửa đổi không thể dẫn tới thực thi thanh toán.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Kết quả đạt được: Hoàn thành 10/10 chốt thiết kế (DES-01..10), 40/40 ca kiểm thử PASS (T-01..T-40) và 4 kịch bản demo (D-01..D-04).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Slide 2 — Tình huống thực tế &amp; Các kịch bản tấn công trọng tâm</a:t>
            </a:r>
          </a:p>
          <a:p>
            <a:pPr>
              <a:defRPr sz="1300">
                <a:solidFill>
                  <a:srgbClr val="93C5FD"/>
                </a:solidFill>
              </a:defRPr>
            </a:pPr>
            <a:r>
              <a:t>Vì sao xác thực đăng nhập truyền thống và tên hiển thị không đủ bảo vệ giao dịch tài chính?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1. Giả mạo danh tính hiển thị (R-01 / T-05): Tạo tài khoản có tên hiển thị và ảnh đại diện giống hệt Giám đốc hoặc gửi trích dẫn chat/email giả mạo.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2. Đánh cắp mật khẩu hoặc cookie phiên làm việc (R-02 / T-10, T-11): Lợi dụng phiên đã đăng nhập để gọi thẳng API phê duyệt hoặc thực thi.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3. Chiếm hoàn toàn 01 tài khoản người duyệt (R-02 / T-12): Kẻ gian nắm cả mật khẩu lẫn thiết bị MFA của một người duyệt để tự hợp thức hóa yêu cầu.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4. Đánh tráo nội dung sau phê duyệt &amp; Phát lại xác nhận (R-03, R-04 / T-19..T-23): Sửa số tiền/người nhận hoặc dùng lại mã OTP/challenge cũ.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5. Chạy đua đồng thời (Race Condition) trước lúc thu hồi quyền (R-05, R-06 / T-30..T-35): Gửi nhiều lệnh thực thi song song hoặc thực thi khi tài khoản vừa bị đình chỉ.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Slide 3 — Chủ thể, Tài sản bảo vệ &amp; Phạm vi Prototype</a:t>
            </a:r>
          </a:p>
          <a:p>
            <a:pPr>
              <a:defRPr sz="1300">
                <a:solidFill>
                  <a:srgbClr val="93C5FD"/>
                </a:solidFill>
              </a:defRPr>
            </a:pPr>
            <a:r>
              <a:t>Tách biệt rõ thẩm quyền nghiệp vụ và quản trị an ninh; chỉ thực hiện thanh toán mô phỏng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Bốn vai trò tách biệt (DES-01, DES-09):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  • REQUESTER (lan, minh): Lập yêu cầu, tạo revision mới và là người duy nhất được thực thi mô phỏng yêu cầu của chính mình.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  • DIRECTOR (nam) &amp; CONTROLLER (huong): Hai người duyệt độc lập (khác person_id, khác REQUESTER).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  • SECURITY_ADMIN (an): Chỉ xem danh sách tài khoản, đọc audit an ninh và thực hiện SUSPEND / REVOKE_ALL (không có quyền tài chính).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Phạm vi rõ ràng (DES-10): Chỉ sử dụng dữ liệu mô phỏng; trạng thái cuối là EXECUTED_SIMULATED (không kết nối ngân hàng thật).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Slide 4 — Mô hình đối phương &amp; Căn cứ tin cậy (Trusted Bootstrap)</a:t>
            </a:r>
          </a:p>
          <a:p>
            <a:pPr>
              <a:defRPr sz="1300">
                <a:solidFill>
                  <a:srgbClr val="93C5FD"/>
                </a:solidFill>
              </a:defRPr>
            </a:pPr>
            <a:r>
              <a:t>Không mở đăng ký công khai, không tự nâng quyền, không tự reset MFA qua UI/API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3444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Căn cứ tin cậy khởi tạo trước (DES-01, DES-07):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• Danh tính, vai trò, person_id và thiết bị TOTP được cấp phát qua CLI ngoại tuyến tin cậy: `manage.py bootstrap_lab`.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• Danh mục người nhận tiền (`Beneficiary` + `BeneficiaryVersion`) được xác minh ngoại tuyến qua `manage.py manage_beneficiary`.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• Đường dẫn `/admin/` của Django bị gỡ bỏ hoàn toàn (`T-09` -&gt; HTTP 404); mọi đường dẫn tự đổi MFA/role đều không tồn tại (`T-14`).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Giả định tin cậy: Máy chủ ứng dụng Django, cơ sở dữ liệu PostgreSQL 17 và đồng hồ máy chủ nằm trong ranh giới tin cậy (TCB).</a:t>
            </a:r>
          </a:p>
        </p:txBody>
      </p:sp>
      <p:pic>
        <p:nvPicPr>
          <p:cNvPr id="4" name="Picture 3" descr="02_dfd_trust_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5349240" cy="27510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Slide 5 — Kiến trúc hệ thống &amp; Mô hình dữ liệu trên PostgreSQL 17</a:t>
            </a:r>
          </a:p>
          <a:p>
            <a:pPr>
              <a:defRPr sz="1300">
                <a:solidFill>
                  <a:srgbClr val="93C5FD"/>
                </a:solidFill>
              </a:defRPr>
            </a:pPr>
            <a:r>
              <a:t>Kiến trúc 4 phân hệ tích hợp khóa tuần tự hóa SecurityMutex và nhật ký kiểm toán đã lọc bí mật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3444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4 phân hệ ứng dụng (`apps/accounts`, `apps/beneficiaries`, `apps/payments`, `apps/audit`) + `apps/common`.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Mô hình dữ liệu tách biệt `PaymentRequest` (trạng thái vòng đời) và `PaymentRevision` (snapshot nội dung bất biến).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Ràng buộc `OneToOneField` trên `PaymentExecution` đảm bảo ở mức cơ sở dữ liệu mỗi yêu cầu chỉ có tối đa 01 biên nhận mô phỏng.</a:t>
            </a:r>
          </a:p>
        </p:txBody>
      </p:sp>
      <p:pic>
        <p:nvPicPr>
          <p:cNvPr id="4" name="Picture 3" descr="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5349240" cy="27510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Slide 6 — Luồng hợp lệ: Hai người duyệt độc lập &amp; Chủ sở hữu thực thi mô phỏng</a:t>
            </a:r>
          </a:p>
          <a:p>
            <a:pPr>
              <a:defRPr sz="1300">
                <a:solidFill>
                  <a:srgbClr val="93C5FD"/>
                </a:solidFill>
              </a:defRPr>
            </a:pPr>
            <a:r>
              <a:t>DRAFT -&gt; PENDING_APPROVAL -&gt; APPROVED -&gt; EXECUTED_SIMULATED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3444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Bước 1: `REQUESTER` (Lan) tạo yêu cầu tới người nhận `VERIFIED` và nộp -&gt; Đóng băng `PaymentRevision` kèm SHA-256 `content_digest`.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Bước 2: `DIRECTOR` (Nam) và `CONTROLLER` (Hương) độc lập xin `APPROVE` challenge và xác thực bằng mã TOTP mới.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Bước 3: Sau khi đủ 02 phiếu hợp lệ (`APPROVED`), chỉ chính `REQUESTER` (Lan) mới được cấp `EXECUTE` challenge để thực thi mô phỏng 1 lần.</a:t>
            </a:r>
          </a:p>
        </p:txBody>
      </p:sp>
      <p:pic>
        <p:nvPicPr>
          <p:cNvPr id="4" name="Picture 3" descr="05_seq_norma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5349240" cy="27510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Slide 7 — Ràng buộc nội dung, Thời hạn 120s, Dùng 1 lần &amp; Chống Race Condition</a:t>
            </a:r>
          </a:p>
          <a:p>
            <a:pPr>
              <a:defRPr sz="1300">
                <a:solidFill>
                  <a:srgbClr val="93C5FD"/>
                </a:solidFill>
              </a:defRPr>
            </a:pPr>
            <a:r>
              <a:t>Bảo vệ toàn vẹn từ lúc duyệt đến Final Gate trên PostgreSQL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3444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Mỗi `ActionChallenge` gắn chặt với 10 thuộc tính: actor, person_id, session_key, totp_device, security_epoch, action, request, revision, content_digest, beneficiary_version.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Mọi chỉnh sửa qua `/revise` tạo revision mới ở `DRAFT` và vô hiệu hóa toàn bộ phiếu duyệt/challenge cũ (`T-20`).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Chống phát lại kép: Challenge dùng 1 lần (`T-22`, TTL 120s theo giờ server `T-21`) + `TOTPDevice.last_t` chặn dùng lại timestep TOTP 30s (`T-23`, `T-34`).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Đồng thời trên PostgreSQL: Khóa `SecurityMutex(id=1)` bằng `SELECT ... FOR UPDATE` tuần tự hóa mọi giao dịch nhạy cảm (`T-30`..`T-35`).</a:t>
            </a:r>
          </a:p>
        </p:txBody>
      </p:sp>
      <p:pic>
        <p:nvPicPr>
          <p:cNvPr id="4" name="Picture 3" descr="04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5349240" cy="27510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Slide 8 — Khi 1 tài khoản duyệt bị chiếm hoàn toàn &amp; Cơ chế thu hồi khẩn cấp</a:t>
            </a:r>
          </a:p>
          <a:p>
            <a:pPr>
              <a:defRPr sz="1300">
                <a:solidFill>
                  <a:srgbClr val="93C5FD"/>
                </a:solidFill>
              </a:defRPr>
            </a:pPr>
            <a:r>
              <a:t>Vì sao kẻ tấn công có đủ mật khẩu + MFA của Giám đốc Nam vẫn không thể hoàn tất thanh toán?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3444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1. Kẻ gian chiếm hoàn toàn tài khoản `nam` chỉ tạo được tối đa 01 phiếu cho slot `DIRECTOR`; không thể tự duyệt hoặc ký thay slot `CONTROLLER` của `huong` (`T-07`, `T-12`).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2. Khi phát hiện dấu hiệu bất thường, `SECURITY_ADMIN` (`an`) thực hiện `SUSPEND` hoặc `REVOKE_ALL` (kèm `ADMIN_REVOKE` challenge + TOTP mới).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3. Hệ thống lập tức tăng `security_epoch`, vô hiệu hóa phiếu duyệt của tài khoản bị thu hồi và chuyển các yêu cầu liên quan sang `HOLD` trước khi bước thực thi diễn ra (`T-25`, `T-35`).</a:t>
            </a:r>
          </a:p>
        </p:txBody>
      </p:sp>
      <p:pic>
        <p:nvPicPr>
          <p:cNvPr id="4" name="Picture 3" descr="07_seq_compromise_rev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5349240" cy="27510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Slide 9 — Kết quả kiểm thử thực tế 40/40 ca (T-01 .. T-40) trên PostgreSQL 17</a:t>
            </a:r>
          </a:p>
          <a:p>
            <a:pPr>
              <a:defRPr sz="1300">
                <a:solidFill>
                  <a:srgbClr val="93C5FD"/>
                </a:solidFill>
              </a:defRPr>
            </a:pPr>
            <a:r>
              <a:t>Thực thi tự động 100% trên PostgreSQL 17.6 thật, lưu đầy đủ bằng chứng JSON và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3444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• T-01..T-09 (Luồng nghiệp vụ &amp; phân quyền): 9/9 PASS — Chặn 1 phiếu (T-02), chặn giả danh tên/ảnh (T-05), chặn chèn role/state (T-06), chặn IDOR (T-08), chặn /admin/ (T-09).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• T-10..T-15 (Xác thực &amp; chiếm tài khoản): 6/6 PASS — Chặn phiên chỉ qua mật khẩu (T-10), chặn phiên mất cắp thiếu OTP mới (T-11), khóa tạm thời khi sai OTP (T-13), khôi phục offline tăng epoch (T-15).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• T-16..T-29 (Ràng buộc nội dung, chống replay &amp; thu hồi): 14/14 PASS — Chặn đổi actor/request/action (T-16, T-17), chặn sửa bản đóng băng (T-19), chặn dùng lại TOTP timestep (T-23), chặn tại Final Gate khi đổi role/MFA/beneficiary (T-25..T-28).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• T-30..T-40 (Đồng thời PostgreSQL, CSRF/XSS, Audit, HTTPS TLS &amp; Fault Rollback): 11/11 PASS — 2 kết nối chạy đua qua Barrier(2) chỉ tạo 1 biên nhận (T-30..T-35), kiểm chứng TLS với Lab Root CA (T-39), rollback nguyên tử khi lỗi giữa giao dịch (T-40).</a:t>
            </a:r>
          </a:p>
        </p:txBody>
      </p:sp>
      <p:pic>
        <p:nvPicPr>
          <p:cNvPr id="4" name="Picture 3" descr="D-01_vali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5349240" cy="25905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Slide 10 — Trình diễn 4 kịch bản Demo tái lập được (D-01 .. D-04)</a:t>
            </a:r>
          </a:p>
          <a:p>
            <a:pPr>
              <a:defRPr sz="1300">
                <a:solidFill>
                  <a:srgbClr val="93C5FD"/>
                </a:solidFill>
              </a:defRPr>
            </a:pPr>
            <a:r>
              <a:t>Chứng minh trực quan từ giao diện, phản hồi HTTP, trạng thái PostgreSQL đến AuditEvent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34440"/>
            <a:ext cx="5943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• D-01 (Luồng hợp lệ &amp; Idempotency): Yêu cầu REQ-20261024-0001-21F3 được Nam và Hương duyệt độc lập, Lan thực thi sinh biên nhận SIM-RCPT-20261024131246-08BBBE5F (COUNT=1).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• D-02 (Giả danh &amp; Chiếm 1 tài khoản duyệt): Tài khoản trùng tên `nam_fake` bị chặn HTTP 403; `nam` bị chiếm tạo 1 phiếu nhưng `huong` độc lập từ chối -&gt; REJECTED.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• D-03 (Sửa nội dung &amp; Vô hiệu hóa phiếu cũ): Sửa sang `BEN-002` tạo Revision 2 ở `DRAFT`, challenge cũ bị chặn HTTP 409 (WRONG_SCOPE).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• D-04 (Thu hồi trước thực thi &amp; Đồng thời 2 worker): Đình chỉ `nam` đẩy yêu cầu sang `HOLD`; 2 worker chạy đua chỉ tạo đúng 1 biên nhận.</a:t>
            </a:r>
          </a:p>
        </p:txBody>
      </p:sp>
      <p:pic>
        <p:nvPicPr>
          <p:cNvPr id="4" name="Picture 3" descr="D-04_revocation_and_con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5349240" cy="23689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Slide 11 — Phân tích Đánh đổi (Trade-off) Ngắn hạn, Dài hạn &amp; Rủi ro còn lại</a:t>
            </a:r>
          </a:p>
          <a:p>
            <a:pPr>
              <a:defRPr sz="1300">
                <a:solidFill>
                  <a:srgbClr val="93C5FD"/>
                </a:solidFill>
              </a:defRPr>
            </a:pPr>
            <a:r>
              <a:t>Số liệu đo thực nghiệm N=5 trên Lab (trung bình 2186.8 ms xử lý hệ thống) vs. Chi phí vận hành dài hạn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• Ngắn hạn (Đã đo thực nghiệm N=5): Mỗi yêu cầu cần 3 chủ thể, 6 lần xác thực TOTP và 14 HTTP request. Tổng độ trễ xử lý hệ thống trung bình chỉ 2186.8 ms; chi phí chính nằm ở thao tác người dùng nhập mã và quy tắc chờ qua bước TOTP 30s nếu thao tác liền kề.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• Dài hạn (Phân tích có giả định):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  - Không tự reset MFA/role/beneficiary qua web giúp triệt tiêu lối đi vòng, nhưng phát sinh quy trình vận hành CLI ngoại tuyến khi nhân sự mất thiết bị.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  - Khóa `SecurityMutex` một dòng chứng minh tính đúng đắn tuyệt đối nhưng giới hạn thông lượng khi mở rộng quy mô lớn.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• Rủi ro còn lại: Hai người duyệt cùng bị chiếm/thông đồng, người duyệt không kiểm tra chứng từ mà duyệt nhầm nội dung sai từ đầu, hoặc máy chủ/DBA bị chiếm quyền root.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Slide 12 — Tổng kết Sản phẩm Bàn giao (SP-01 .. SP-05) &amp; Kết luận</a:t>
            </a:r>
          </a:p>
          <a:p>
            <a:pPr>
              <a:defRPr sz="1300">
                <a:solidFill>
                  <a:srgbClr val="93C5FD"/>
                </a:solidFill>
              </a:defRPr>
            </a:pPr>
            <a:r>
              <a:t>Đầy đủ báo cáo, sơ đồ, mã nguồn chạy thực tế trên PostgreSQL 17, 40 test PASS và kịch bản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• SP-01 (Báo cáo): `deliverables/Bao_cao_De_tai_5.docx` &amp; `.md` (10 chương + Phụ lục A/B đối chiếu 22 yêu cầu).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• SP-02 (Sơ đồ): `docs/diagrams/01..07.{mmd,svg,png}` (Kiến trúc, DFD, ERD, State Machine, 3 Sequence Diagrams).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• SP-03 (Prototype): Mã nguồn Django 5.2 + PostgreSQL 17, `compose.yaml`, `requirements.lock`, `versions.txt`, `README.md`.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• SP-04 (Bộ kiểm thử &amp; Bằng chứng): `tests/`, `evidence/test_results.csv` (40/40 PASS), `evidence/index.md`, `evidence/logs/T-01..T-40.json`.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• SP-05 (Slide &amp; Demo): `deliverables/Slide_De_tai_5.pptx` (12 slide) &amp; `deliverables/Kich_ban_demo.md` (`D-01..D-04`).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